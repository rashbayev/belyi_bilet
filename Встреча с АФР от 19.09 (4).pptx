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699" r:id="rId2"/>
    <p:sldMasterId id="2147483734" r:id="rId3"/>
  </p:sldMasterIdLst>
  <p:notesMasterIdLst>
    <p:notesMasterId r:id="rId5"/>
  </p:notesMasterIdLst>
  <p:sldIdLst>
    <p:sldId id="290" r:id="rId4"/>
  </p:sldIdLst>
  <p:sldSz cx="12192000" cy="6858000"/>
  <p:notesSz cx="6724650" cy="97742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EBFFC506-B576-41D5-8E2E-7B8189FD944E}">
          <p14:sldIdLst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21A1126-B1E4-6ED2-C576-A4146D3D68D1}" name="Абдулла Айдана Бакытбековна" initials="АА" userId="S::Aidanaabd@freedombank.kz::8f6e786e-f073-47e5-8929-833d2771444d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uralay Zhalbagayeva" initials="KZ" lastIdx="3" clrIdx="0">
    <p:extLst>
      <p:ext uri="{19B8F6BF-5375-455C-9EA6-DF929625EA0E}">
        <p15:presenceInfo xmlns:p15="http://schemas.microsoft.com/office/powerpoint/2012/main" userId="345ec50dcd58480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91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F51E96-3084-49C7-BA2B-975AD3165C64}" v="4" dt="2025-09-17T15:27:19.8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12" Type="http://schemas.microsoft.com/office/2018/10/relationships/authors" Target="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4015" cy="4904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09079" y="0"/>
            <a:ext cx="2914015" cy="4904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D3A37-F9CD-4C12-9C90-8CCF1AEBE204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30213" y="1222375"/>
            <a:ext cx="5864225" cy="3298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2465" y="4703852"/>
            <a:ext cx="5379720" cy="384860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283830"/>
            <a:ext cx="2914015" cy="49040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09079" y="9283830"/>
            <a:ext cx="2914015" cy="49040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A326E2-4554-4143-AD51-06DAC4492E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2367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10C1A-780C-F54C-6D90-CED41BD88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A3833D9-F3E9-77A1-F226-EEB597E49B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7E6B905-2223-2004-300A-4162399A5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01E040-C3C0-E089-D93B-F8714F5374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6E048-40D4-4BD8-85B1-8CE98C50F79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6378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772562" y="2473779"/>
            <a:ext cx="7031525" cy="1102097"/>
          </a:xfrm>
          <a:prstGeom prst="rect">
            <a:avLst/>
          </a:prstGeom>
        </p:spPr>
        <p:txBody>
          <a:bodyPr anchor="ctr"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</a:t>
            </a:r>
            <a:br>
              <a:rPr lang="ru-RU"/>
            </a:br>
            <a:r>
              <a:rPr lang="ru-RU"/>
              <a:t>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772562" y="3746651"/>
            <a:ext cx="9144000" cy="770786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</a:t>
            </a:r>
            <a:br>
              <a:rPr lang="ru-RU"/>
            </a:br>
            <a:r>
              <a:rPr lang="ru-RU"/>
              <a:t>подзаголовка</a:t>
            </a:r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027121" y="6347297"/>
            <a:ext cx="453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852CDF7-6B29-4B43-8188-48493BFC51F6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562" y="669389"/>
            <a:ext cx="2863515" cy="859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13357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027121" y="6347297"/>
            <a:ext cx="453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852CDF7-6B29-4B43-8188-48493BFC51F6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157" y="471751"/>
            <a:ext cx="1404040" cy="421212"/>
          </a:xfrm>
          <a:prstGeom prst="rect">
            <a:avLst/>
          </a:prstGeom>
        </p:spPr>
      </p:pic>
      <p:sp>
        <p:nvSpPr>
          <p:cNvPr id="1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48900" y="471751"/>
            <a:ext cx="7628300" cy="424332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47261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48900" y="471751"/>
            <a:ext cx="7628300" cy="424332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" name="Прямоугольник 4"/>
          <p:cNvSpPr/>
          <p:nvPr userDrawn="1"/>
        </p:nvSpPr>
        <p:spPr>
          <a:xfrm>
            <a:off x="8809265" y="0"/>
            <a:ext cx="3382736" cy="6858000"/>
          </a:xfrm>
          <a:prstGeom prst="rect">
            <a:avLst/>
          </a:prstGeom>
          <a:gradFill>
            <a:gsLst>
              <a:gs pos="0">
                <a:srgbClr val="1A8C3A"/>
              </a:gs>
              <a:gs pos="85000">
                <a:srgbClr val="72BF44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157" y="471751"/>
            <a:ext cx="1404040" cy="424332"/>
          </a:xfrm>
          <a:prstGeom prst="rect">
            <a:avLst/>
          </a:prstGeom>
        </p:spPr>
      </p:pic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027121" y="6347297"/>
            <a:ext cx="453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852CDF7-6B29-4B43-8188-48493BFC5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03006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157" y="471751"/>
            <a:ext cx="1404040" cy="421212"/>
          </a:xfrm>
          <a:prstGeom prst="rect">
            <a:avLst/>
          </a:prstGeom>
        </p:spPr>
      </p:pic>
      <p:sp>
        <p:nvSpPr>
          <p:cNvPr id="11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4896425" y="3142278"/>
            <a:ext cx="5623119" cy="543786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____________@bankffin.kz</a:t>
            </a:r>
          </a:p>
        </p:txBody>
      </p:sp>
      <p:grpSp>
        <p:nvGrpSpPr>
          <p:cNvPr id="3" name="Группа 2"/>
          <p:cNvGrpSpPr/>
          <p:nvPr userDrawn="1"/>
        </p:nvGrpSpPr>
        <p:grpSpPr>
          <a:xfrm>
            <a:off x="0" y="5264409"/>
            <a:ext cx="12192001" cy="1593590"/>
            <a:chOff x="0" y="5264409"/>
            <a:chExt cx="12192001" cy="1593590"/>
          </a:xfrm>
        </p:grpSpPr>
        <p:sp>
          <p:nvSpPr>
            <p:cNvPr id="5" name="Прямоугольник 4"/>
            <p:cNvSpPr/>
            <p:nvPr userDrawn="1"/>
          </p:nvSpPr>
          <p:spPr>
            <a:xfrm>
              <a:off x="0" y="5264409"/>
              <a:ext cx="12192001" cy="1593590"/>
            </a:xfrm>
            <a:prstGeom prst="rect">
              <a:avLst/>
            </a:prstGeom>
            <a:gradFill>
              <a:gsLst>
                <a:gs pos="0">
                  <a:srgbClr val="1A8C3A"/>
                </a:gs>
                <a:gs pos="85000">
                  <a:srgbClr val="72BF44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grpSp>
          <p:nvGrpSpPr>
            <p:cNvPr id="21" name="Группа 20"/>
            <p:cNvGrpSpPr/>
            <p:nvPr userDrawn="1"/>
          </p:nvGrpSpPr>
          <p:grpSpPr>
            <a:xfrm>
              <a:off x="455575" y="5975991"/>
              <a:ext cx="1184476" cy="478962"/>
              <a:chOff x="513694" y="5949538"/>
              <a:chExt cx="1184476" cy="478962"/>
            </a:xfrm>
          </p:grpSpPr>
          <p:pic>
            <p:nvPicPr>
              <p:cNvPr id="22" name="Рисунок 21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3694" y="5949538"/>
                <a:ext cx="478962" cy="478962"/>
              </a:xfrm>
              <a:prstGeom prst="rect">
                <a:avLst/>
              </a:prstGeom>
            </p:spPr>
          </p:pic>
          <p:sp>
            <p:nvSpPr>
              <p:cNvPr id="23" name="Прямоугольник 22"/>
              <p:cNvSpPr/>
              <p:nvPr/>
            </p:nvSpPr>
            <p:spPr>
              <a:xfrm>
                <a:off x="992655" y="6019742"/>
                <a:ext cx="70551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u-RU" sz="1600" b="1">
                    <a:solidFill>
                      <a:schemeClr val="bg1"/>
                    </a:solidFill>
                  </a:rPr>
                  <a:t>595</a:t>
                </a:r>
                <a:endParaRPr lang="en-US" sz="16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" name="Группа 23"/>
            <p:cNvGrpSpPr/>
            <p:nvPr userDrawn="1"/>
          </p:nvGrpSpPr>
          <p:grpSpPr>
            <a:xfrm>
              <a:off x="1976676" y="5975991"/>
              <a:ext cx="1835277" cy="478962"/>
              <a:chOff x="2202333" y="5949538"/>
              <a:chExt cx="1835277" cy="478962"/>
            </a:xfrm>
          </p:grpSpPr>
          <p:pic>
            <p:nvPicPr>
              <p:cNvPr id="25" name="Рисунок 24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02333" y="5949538"/>
                <a:ext cx="481456" cy="478962"/>
              </a:xfrm>
              <a:prstGeom prst="rect">
                <a:avLst/>
              </a:prstGeom>
            </p:spPr>
          </p:pic>
          <p:sp>
            <p:nvSpPr>
              <p:cNvPr id="26" name="Прямоугольник 25"/>
              <p:cNvSpPr/>
              <p:nvPr/>
            </p:nvSpPr>
            <p:spPr>
              <a:xfrm>
                <a:off x="2683789" y="6019742"/>
                <a:ext cx="1353821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600" b="1">
                    <a:solidFill>
                      <a:schemeClr val="bg1"/>
                    </a:solidFill>
                  </a:rPr>
                  <a:t>bankffin.kz</a:t>
                </a:r>
                <a:endParaRPr lang="en-US" sz="16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7" name="Группа 26"/>
            <p:cNvGrpSpPr/>
            <p:nvPr userDrawn="1"/>
          </p:nvGrpSpPr>
          <p:grpSpPr>
            <a:xfrm>
              <a:off x="4148578" y="5975991"/>
              <a:ext cx="1901691" cy="478962"/>
              <a:chOff x="3893467" y="5949538"/>
              <a:chExt cx="1901691" cy="478962"/>
            </a:xfrm>
          </p:grpSpPr>
          <p:pic>
            <p:nvPicPr>
              <p:cNvPr id="28" name="Рисунок 27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93467" y="5949538"/>
                <a:ext cx="481456" cy="478962"/>
              </a:xfrm>
              <a:prstGeom prst="rect">
                <a:avLst/>
              </a:prstGeom>
            </p:spPr>
          </p:pic>
          <p:sp>
            <p:nvSpPr>
              <p:cNvPr id="29" name="Прямоугольник 28"/>
              <p:cNvSpPr/>
              <p:nvPr/>
            </p:nvSpPr>
            <p:spPr>
              <a:xfrm>
                <a:off x="4374923" y="6019742"/>
                <a:ext cx="142023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600" b="1">
                    <a:solidFill>
                      <a:schemeClr val="bg1"/>
                    </a:solidFill>
                  </a:rPr>
                  <a:t>bankffin.kz</a:t>
                </a:r>
                <a:endParaRPr lang="en-US" sz="16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0" name="Прямоугольник 29"/>
            <p:cNvSpPr/>
            <p:nvPr userDrawn="1"/>
          </p:nvSpPr>
          <p:spPr>
            <a:xfrm>
              <a:off x="7861464" y="5984640"/>
              <a:ext cx="393073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ru-RU" sz="1200">
                  <a:solidFill>
                    <a:schemeClr val="bg1"/>
                  </a:solidFill>
                </a:rPr>
                <a:t>09.02.2021 берілген №1.1.260 ҚНРДА лицензиясы</a:t>
              </a:r>
              <a:endParaRPr lang="en-US" sz="1200">
                <a:solidFill>
                  <a:schemeClr val="bg1"/>
                </a:solidFill>
              </a:endParaRPr>
            </a:p>
            <a:p>
              <a:pPr algn="r"/>
              <a:r>
                <a:rPr lang="ru-RU" sz="1200">
                  <a:solidFill>
                    <a:schemeClr val="bg1"/>
                  </a:solidFill>
                </a:rPr>
                <a:t>Лицензия АРРФР № 1.1.260 от 09.02.2021</a:t>
              </a:r>
              <a:endParaRPr 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" name="Группа 1"/>
          <p:cNvGrpSpPr/>
          <p:nvPr userDrawn="1"/>
        </p:nvGrpSpPr>
        <p:grpSpPr>
          <a:xfrm>
            <a:off x="1672457" y="1871212"/>
            <a:ext cx="8847087" cy="2414947"/>
            <a:chOff x="1631591" y="1529115"/>
            <a:chExt cx="8847087" cy="2414947"/>
          </a:xfrm>
        </p:grpSpPr>
        <p:pic>
          <p:nvPicPr>
            <p:cNvPr id="9" name="Рисунок 8"/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1591" y="1529115"/>
              <a:ext cx="2721819" cy="2414947"/>
            </a:xfrm>
            <a:prstGeom prst="rect">
              <a:avLst/>
            </a:prstGeom>
          </p:spPr>
        </p:pic>
        <p:sp>
          <p:nvSpPr>
            <p:cNvPr id="4" name="Прямоугольник 3"/>
            <p:cNvSpPr/>
            <p:nvPr userDrawn="1"/>
          </p:nvSpPr>
          <p:spPr>
            <a:xfrm>
              <a:off x="4751952" y="1681500"/>
              <a:ext cx="5440335" cy="584775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3200" b="1">
                  <a:solidFill>
                    <a:schemeClr val="tx1"/>
                  </a:solidFill>
                </a:rPr>
                <a:t>СПАСИБО ЗА ВНИМАНИЕ</a:t>
              </a:r>
              <a:endParaRPr lang="en-US" sz="3200" b="1">
                <a:solidFill>
                  <a:schemeClr val="tx1"/>
                </a:solidFill>
              </a:endParaRPr>
            </a:p>
          </p:txBody>
        </p:sp>
        <p:sp>
          <p:nvSpPr>
            <p:cNvPr id="20" name="Прямоугольник 19"/>
            <p:cNvSpPr/>
            <p:nvPr userDrawn="1"/>
          </p:nvSpPr>
          <p:spPr>
            <a:xfrm>
              <a:off x="4773077" y="2336479"/>
              <a:ext cx="5705601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2000" b="1">
                  <a:solidFill>
                    <a:schemeClr val="tx1"/>
                  </a:solidFill>
                </a:rPr>
                <a:t>Возникли вопросы? Будем рады ответить!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267424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ьный слайд без контакт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157" y="471751"/>
            <a:ext cx="1404040" cy="421212"/>
          </a:xfrm>
          <a:prstGeom prst="rect">
            <a:avLst/>
          </a:prstGeom>
        </p:spPr>
      </p:pic>
      <p:grpSp>
        <p:nvGrpSpPr>
          <p:cNvPr id="19" name="Группа 18"/>
          <p:cNvGrpSpPr/>
          <p:nvPr userDrawn="1"/>
        </p:nvGrpSpPr>
        <p:grpSpPr>
          <a:xfrm>
            <a:off x="2850118" y="1306219"/>
            <a:ext cx="6491765" cy="2728892"/>
            <a:chOff x="2340437" y="1387700"/>
            <a:chExt cx="6491765" cy="2728892"/>
          </a:xfrm>
        </p:grpSpPr>
        <p:pic>
          <p:nvPicPr>
            <p:cNvPr id="31" name="Рисунок 30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0437" y="1387700"/>
              <a:ext cx="3075657" cy="2728892"/>
            </a:xfrm>
            <a:prstGeom prst="rect">
              <a:avLst/>
            </a:prstGeom>
          </p:spPr>
        </p:pic>
        <p:sp>
          <p:nvSpPr>
            <p:cNvPr id="32" name="Прямоугольник 31"/>
            <p:cNvSpPr/>
            <p:nvPr userDrawn="1"/>
          </p:nvSpPr>
          <p:spPr>
            <a:xfrm>
              <a:off x="5589006" y="2025532"/>
              <a:ext cx="3243196" cy="1077218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3200" b="1">
                  <a:solidFill>
                    <a:schemeClr val="tx1"/>
                  </a:solidFill>
                </a:rPr>
                <a:t>СПАСИБО </a:t>
              </a:r>
            </a:p>
            <a:p>
              <a:r>
                <a:rPr lang="ru-RU" sz="3200" b="1">
                  <a:solidFill>
                    <a:schemeClr val="tx1"/>
                  </a:solidFill>
                </a:rPr>
                <a:t>ЗА ВНИМАНИЕ</a:t>
              </a:r>
              <a:endParaRPr lang="en-US" sz="3200" b="1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Группа 16"/>
          <p:cNvGrpSpPr/>
          <p:nvPr userDrawn="1"/>
        </p:nvGrpSpPr>
        <p:grpSpPr>
          <a:xfrm>
            <a:off x="0" y="5264409"/>
            <a:ext cx="12192001" cy="1593590"/>
            <a:chOff x="0" y="5264409"/>
            <a:chExt cx="12192001" cy="1593590"/>
          </a:xfrm>
        </p:grpSpPr>
        <p:sp>
          <p:nvSpPr>
            <p:cNvPr id="18" name="Прямоугольник 17"/>
            <p:cNvSpPr/>
            <p:nvPr userDrawn="1"/>
          </p:nvSpPr>
          <p:spPr>
            <a:xfrm>
              <a:off x="0" y="5264409"/>
              <a:ext cx="12192001" cy="1593590"/>
            </a:xfrm>
            <a:prstGeom prst="rect">
              <a:avLst/>
            </a:prstGeom>
            <a:gradFill>
              <a:gsLst>
                <a:gs pos="0">
                  <a:srgbClr val="1A8C3A"/>
                </a:gs>
                <a:gs pos="85000">
                  <a:srgbClr val="72BF44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grpSp>
          <p:nvGrpSpPr>
            <p:cNvPr id="20" name="Группа 19"/>
            <p:cNvGrpSpPr/>
            <p:nvPr userDrawn="1"/>
          </p:nvGrpSpPr>
          <p:grpSpPr>
            <a:xfrm>
              <a:off x="455575" y="5975991"/>
              <a:ext cx="1184476" cy="478962"/>
              <a:chOff x="513694" y="5949538"/>
              <a:chExt cx="1184476" cy="478962"/>
            </a:xfrm>
          </p:grpSpPr>
          <p:pic>
            <p:nvPicPr>
              <p:cNvPr id="40" name="Рисунок 39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3694" y="5949538"/>
                <a:ext cx="478962" cy="478962"/>
              </a:xfrm>
              <a:prstGeom prst="rect">
                <a:avLst/>
              </a:prstGeom>
            </p:spPr>
          </p:pic>
          <p:sp>
            <p:nvSpPr>
              <p:cNvPr id="41" name="Прямоугольник 40"/>
              <p:cNvSpPr/>
              <p:nvPr/>
            </p:nvSpPr>
            <p:spPr>
              <a:xfrm>
                <a:off x="992655" y="6019742"/>
                <a:ext cx="70551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u-RU" sz="1600" b="1">
                    <a:solidFill>
                      <a:schemeClr val="bg1"/>
                    </a:solidFill>
                  </a:rPr>
                  <a:t>595</a:t>
                </a:r>
                <a:endParaRPr lang="en-US" sz="16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3" name="Группа 32"/>
            <p:cNvGrpSpPr/>
            <p:nvPr userDrawn="1"/>
          </p:nvGrpSpPr>
          <p:grpSpPr>
            <a:xfrm>
              <a:off x="1976676" y="5975991"/>
              <a:ext cx="1835277" cy="478962"/>
              <a:chOff x="2202333" y="5949538"/>
              <a:chExt cx="1835277" cy="478962"/>
            </a:xfrm>
          </p:grpSpPr>
          <p:pic>
            <p:nvPicPr>
              <p:cNvPr id="38" name="Рисунок 37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02333" y="5949538"/>
                <a:ext cx="481456" cy="478962"/>
              </a:xfrm>
              <a:prstGeom prst="rect">
                <a:avLst/>
              </a:prstGeom>
            </p:spPr>
          </p:pic>
          <p:sp>
            <p:nvSpPr>
              <p:cNvPr id="39" name="Прямоугольник 38"/>
              <p:cNvSpPr/>
              <p:nvPr/>
            </p:nvSpPr>
            <p:spPr>
              <a:xfrm>
                <a:off x="2683789" y="6019742"/>
                <a:ext cx="1353821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600" b="1">
                    <a:solidFill>
                      <a:schemeClr val="bg1"/>
                    </a:solidFill>
                  </a:rPr>
                  <a:t>bankffin.kz</a:t>
                </a:r>
                <a:endParaRPr lang="en-US" sz="16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4" name="Группа 33"/>
            <p:cNvGrpSpPr/>
            <p:nvPr userDrawn="1"/>
          </p:nvGrpSpPr>
          <p:grpSpPr>
            <a:xfrm>
              <a:off x="4148578" y="5975991"/>
              <a:ext cx="1901691" cy="478962"/>
              <a:chOff x="3893467" y="5949538"/>
              <a:chExt cx="1901691" cy="478962"/>
            </a:xfrm>
          </p:grpSpPr>
          <p:pic>
            <p:nvPicPr>
              <p:cNvPr id="36" name="Рисунок 35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93467" y="5949538"/>
                <a:ext cx="481456" cy="478962"/>
              </a:xfrm>
              <a:prstGeom prst="rect">
                <a:avLst/>
              </a:prstGeom>
            </p:spPr>
          </p:pic>
          <p:sp>
            <p:nvSpPr>
              <p:cNvPr id="37" name="Прямоугольник 36"/>
              <p:cNvSpPr/>
              <p:nvPr/>
            </p:nvSpPr>
            <p:spPr>
              <a:xfrm>
                <a:off x="4374923" y="6019742"/>
                <a:ext cx="142023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600" b="1">
                    <a:solidFill>
                      <a:schemeClr val="bg1"/>
                    </a:solidFill>
                  </a:rPr>
                  <a:t>bankffin.kz</a:t>
                </a:r>
                <a:endParaRPr lang="en-US" sz="16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5" name="Прямоугольник 34"/>
            <p:cNvSpPr/>
            <p:nvPr userDrawn="1"/>
          </p:nvSpPr>
          <p:spPr>
            <a:xfrm>
              <a:off x="7861464" y="5984640"/>
              <a:ext cx="393073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ru-RU" sz="1200">
                  <a:solidFill>
                    <a:schemeClr val="bg1"/>
                  </a:solidFill>
                </a:rPr>
                <a:t>09.02.2021 берілген №1.1.260 ҚНРДА лицензиясы</a:t>
              </a:r>
              <a:endParaRPr lang="en-US" sz="1200">
                <a:solidFill>
                  <a:schemeClr val="bg1"/>
                </a:solidFill>
              </a:endParaRPr>
            </a:p>
            <a:p>
              <a:pPr algn="r"/>
              <a:r>
                <a:rPr lang="ru-RU" sz="1200">
                  <a:solidFill>
                    <a:schemeClr val="bg1"/>
                  </a:solidFill>
                </a:rPr>
                <a:t>Лицензия АРРФР № 1.1.260 от 09.02.2021</a:t>
              </a:r>
              <a:endParaRPr lang="en-US" sz="12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234884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772562" y="2473779"/>
            <a:ext cx="7031525" cy="1102097"/>
          </a:xfrm>
          <a:prstGeom prst="rect">
            <a:avLst/>
          </a:prstGeom>
        </p:spPr>
        <p:txBody>
          <a:bodyPr anchor="ctr"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</a:t>
            </a:r>
            <a:br>
              <a:rPr lang="ru-RU"/>
            </a:br>
            <a:r>
              <a:rPr lang="ru-RU"/>
              <a:t>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772562" y="3746651"/>
            <a:ext cx="9144000" cy="770786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</a:t>
            </a:r>
            <a:br>
              <a:rPr lang="ru-RU"/>
            </a:br>
            <a:r>
              <a:rPr lang="ru-RU"/>
              <a:t>подзаголовка</a:t>
            </a:r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027121" y="6347297"/>
            <a:ext cx="453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852CDF7-6B29-4B43-8188-48493BFC51F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562" y="669389"/>
            <a:ext cx="2863515" cy="859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365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027121" y="6347297"/>
            <a:ext cx="453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852CDF7-6B29-4B43-8188-48493BFC51F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157" y="471751"/>
            <a:ext cx="1404040" cy="421212"/>
          </a:xfrm>
          <a:prstGeom prst="rect">
            <a:avLst/>
          </a:prstGeom>
        </p:spPr>
      </p:pic>
      <p:sp>
        <p:nvSpPr>
          <p:cNvPr id="1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48900" y="471751"/>
            <a:ext cx="7628300" cy="424332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760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48900" y="471751"/>
            <a:ext cx="7628300" cy="424332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" name="Прямоугольник 4"/>
          <p:cNvSpPr/>
          <p:nvPr userDrawn="1"/>
        </p:nvSpPr>
        <p:spPr>
          <a:xfrm>
            <a:off x="8809265" y="0"/>
            <a:ext cx="3382736" cy="6858000"/>
          </a:xfrm>
          <a:prstGeom prst="rect">
            <a:avLst/>
          </a:prstGeom>
          <a:gradFill>
            <a:gsLst>
              <a:gs pos="0">
                <a:srgbClr val="1A8C3A"/>
              </a:gs>
              <a:gs pos="85000">
                <a:srgbClr val="72BF44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157" y="471751"/>
            <a:ext cx="1404040" cy="424332"/>
          </a:xfrm>
          <a:prstGeom prst="rect">
            <a:avLst/>
          </a:prstGeom>
        </p:spPr>
      </p:pic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027121" y="6347297"/>
            <a:ext cx="453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852CDF7-6B29-4B43-8188-48493BFC51F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607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157" y="471751"/>
            <a:ext cx="1404040" cy="421212"/>
          </a:xfrm>
          <a:prstGeom prst="rect">
            <a:avLst/>
          </a:prstGeom>
        </p:spPr>
      </p:pic>
      <p:sp>
        <p:nvSpPr>
          <p:cNvPr id="11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4896425" y="3142278"/>
            <a:ext cx="5623119" cy="543786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____________@bankffin.kz</a:t>
            </a:r>
          </a:p>
        </p:txBody>
      </p:sp>
      <p:grpSp>
        <p:nvGrpSpPr>
          <p:cNvPr id="3" name="Группа 2"/>
          <p:cNvGrpSpPr/>
          <p:nvPr userDrawn="1"/>
        </p:nvGrpSpPr>
        <p:grpSpPr>
          <a:xfrm>
            <a:off x="0" y="5264409"/>
            <a:ext cx="12192001" cy="1593590"/>
            <a:chOff x="0" y="5264409"/>
            <a:chExt cx="12192001" cy="1593590"/>
          </a:xfrm>
        </p:grpSpPr>
        <p:sp>
          <p:nvSpPr>
            <p:cNvPr id="5" name="Прямоугольник 4"/>
            <p:cNvSpPr/>
            <p:nvPr userDrawn="1"/>
          </p:nvSpPr>
          <p:spPr>
            <a:xfrm>
              <a:off x="0" y="5264409"/>
              <a:ext cx="12192001" cy="1593590"/>
            </a:xfrm>
            <a:prstGeom prst="rect">
              <a:avLst/>
            </a:prstGeom>
            <a:gradFill>
              <a:gsLst>
                <a:gs pos="0">
                  <a:srgbClr val="1A8C3A"/>
                </a:gs>
                <a:gs pos="85000">
                  <a:srgbClr val="72BF44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Группа 20"/>
            <p:cNvGrpSpPr/>
            <p:nvPr userDrawn="1"/>
          </p:nvGrpSpPr>
          <p:grpSpPr>
            <a:xfrm>
              <a:off x="455575" y="5975991"/>
              <a:ext cx="1184476" cy="478962"/>
              <a:chOff x="513694" y="5949538"/>
              <a:chExt cx="1184476" cy="478962"/>
            </a:xfrm>
          </p:grpSpPr>
          <p:pic>
            <p:nvPicPr>
              <p:cNvPr id="22" name="Рисунок 21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3694" y="5949538"/>
                <a:ext cx="478962" cy="478962"/>
              </a:xfrm>
              <a:prstGeom prst="rect">
                <a:avLst/>
              </a:prstGeom>
            </p:spPr>
          </p:pic>
          <p:sp>
            <p:nvSpPr>
              <p:cNvPr id="23" name="Прямоугольник 22"/>
              <p:cNvSpPr/>
              <p:nvPr/>
            </p:nvSpPr>
            <p:spPr>
              <a:xfrm>
                <a:off x="992655" y="6019742"/>
                <a:ext cx="70551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600" b="1">
                    <a:solidFill>
                      <a:schemeClr val="bg1"/>
                    </a:solidFill>
                  </a:rPr>
                  <a:t>595</a:t>
                </a:r>
                <a:endParaRPr lang="en-US" sz="16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" name="Группа 23"/>
            <p:cNvGrpSpPr/>
            <p:nvPr userDrawn="1"/>
          </p:nvGrpSpPr>
          <p:grpSpPr>
            <a:xfrm>
              <a:off x="1976676" y="5975991"/>
              <a:ext cx="1835277" cy="478962"/>
              <a:chOff x="2202333" y="5949538"/>
              <a:chExt cx="1835277" cy="478962"/>
            </a:xfrm>
          </p:grpSpPr>
          <p:pic>
            <p:nvPicPr>
              <p:cNvPr id="25" name="Рисунок 24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02333" y="5949538"/>
                <a:ext cx="481456" cy="478962"/>
              </a:xfrm>
              <a:prstGeom prst="rect">
                <a:avLst/>
              </a:prstGeom>
            </p:spPr>
          </p:pic>
          <p:sp>
            <p:nvSpPr>
              <p:cNvPr id="26" name="Прямоугольник 25"/>
              <p:cNvSpPr/>
              <p:nvPr/>
            </p:nvSpPr>
            <p:spPr>
              <a:xfrm>
                <a:off x="2683789" y="6019742"/>
                <a:ext cx="1353821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b="1">
                    <a:solidFill>
                      <a:schemeClr val="bg1"/>
                    </a:solidFill>
                  </a:rPr>
                  <a:t>bankffin.kz</a:t>
                </a:r>
                <a:endParaRPr lang="en-US" sz="16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7" name="Группа 26"/>
            <p:cNvGrpSpPr/>
            <p:nvPr userDrawn="1"/>
          </p:nvGrpSpPr>
          <p:grpSpPr>
            <a:xfrm>
              <a:off x="4148578" y="5975991"/>
              <a:ext cx="1901691" cy="478962"/>
              <a:chOff x="3893467" y="5949538"/>
              <a:chExt cx="1901691" cy="478962"/>
            </a:xfrm>
          </p:grpSpPr>
          <p:pic>
            <p:nvPicPr>
              <p:cNvPr id="28" name="Рисунок 2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93467" y="5949538"/>
                <a:ext cx="481456" cy="478962"/>
              </a:xfrm>
              <a:prstGeom prst="rect">
                <a:avLst/>
              </a:prstGeom>
            </p:spPr>
          </p:pic>
          <p:sp>
            <p:nvSpPr>
              <p:cNvPr id="29" name="Прямоугольник 28"/>
              <p:cNvSpPr/>
              <p:nvPr/>
            </p:nvSpPr>
            <p:spPr>
              <a:xfrm>
                <a:off x="4374923" y="6019742"/>
                <a:ext cx="142023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b="1">
                    <a:solidFill>
                      <a:schemeClr val="bg1"/>
                    </a:solidFill>
                  </a:rPr>
                  <a:t>bankffin.kz</a:t>
                </a:r>
                <a:endParaRPr lang="en-US" sz="16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0" name="Прямоугольник 29"/>
            <p:cNvSpPr/>
            <p:nvPr userDrawn="1"/>
          </p:nvSpPr>
          <p:spPr>
            <a:xfrm>
              <a:off x="7861464" y="5984640"/>
              <a:ext cx="393073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ru-RU" sz="1200">
                  <a:solidFill>
                    <a:schemeClr val="bg1"/>
                  </a:solidFill>
                </a:rPr>
                <a:t>09.02.2021 берілген №1.1.260 ҚНРДА лицензиясы</a:t>
              </a:r>
              <a:endParaRPr lang="en-US" sz="1200">
                <a:solidFill>
                  <a:schemeClr val="bg1"/>
                </a:solidFill>
              </a:endParaRPr>
            </a:p>
            <a:p>
              <a:pPr algn="r"/>
              <a:r>
                <a:rPr lang="ru-RU" sz="1200">
                  <a:solidFill>
                    <a:schemeClr val="bg1"/>
                  </a:solidFill>
                </a:rPr>
                <a:t>Лицензия АРРФР № 1.1.260 от 09.02.2021</a:t>
              </a:r>
              <a:endParaRPr 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" name="Группа 1"/>
          <p:cNvGrpSpPr/>
          <p:nvPr userDrawn="1"/>
        </p:nvGrpSpPr>
        <p:grpSpPr>
          <a:xfrm>
            <a:off x="1672457" y="1871212"/>
            <a:ext cx="8847087" cy="2414947"/>
            <a:chOff x="1631591" y="1529115"/>
            <a:chExt cx="8847087" cy="2414947"/>
          </a:xfrm>
        </p:grpSpPr>
        <p:pic>
          <p:nvPicPr>
            <p:cNvPr id="9" name="Рисунок 8"/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1591" y="1529115"/>
              <a:ext cx="2721819" cy="2414947"/>
            </a:xfrm>
            <a:prstGeom prst="rect">
              <a:avLst/>
            </a:prstGeom>
          </p:spPr>
        </p:pic>
        <p:sp>
          <p:nvSpPr>
            <p:cNvPr id="4" name="Прямоугольник 3"/>
            <p:cNvSpPr/>
            <p:nvPr userDrawn="1"/>
          </p:nvSpPr>
          <p:spPr>
            <a:xfrm>
              <a:off x="4751952" y="1681500"/>
              <a:ext cx="5440335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3200" b="1">
                  <a:solidFill>
                    <a:schemeClr val="tx1"/>
                  </a:solidFill>
                </a:rPr>
                <a:t>СПАСИБО ЗА ВНИМАНИЕ</a:t>
              </a:r>
              <a:endParaRPr lang="en-US" sz="3200" b="1">
                <a:solidFill>
                  <a:schemeClr val="tx1"/>
                </a:solidFill>
              </a:endParaRPr>
            </a:p>
          </p:txBody>
        </p:sp>
        <p:sp>
          <p:nvSpPr>
            <p:cNvPr id="20" name="Прямоугольник 19"/>
            <p:cNvSpPr/>
            <p:nvPr userDrawn="1"/>
          </p:nvSpPr>
          <p:spPr>
            <a:xfrm>
              <a:off x="4773077" y="2336479"/>
              <a:ext cx="570560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2000" b="1">
                  <a:solidFill>
                    <a:schemeClr val="tx1"/>
                  </a:solidFill>
                </a:rPr>
                <a:t>Возникли вопросы? Будем рады ответить!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1063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ьный слайд без контакт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157" y="471751"/>
            <a:ext cx="1404040" cy="421212"/>
          </a:xfrm>
          <a:prstGeom prst="rect">
            <a:avLst/>
          </a:prstGeom>
        </p:spPr>
      </p:pic>
      <p:grpSp>
        <p:nvGrpSpPr>
          <p:cNvPr id="19" name="Группа 18"/>
          <p:cNvGrpSpPr/>
          <p:nvPr userDrawn="1"/>
        </p:nvGrpSpPr>
        <p:grpSpPr>
          <a:xfrm>
            <a:off x="2850118" y="1306219"/>
            <a:ext cx="6491765" cy="2728892"/>
            <a:chOff x="2340437" y="1387700"/>
            <a:chExt cx="6491765" cy="2728892"/>
          </a:xfrm>
        </p:grpSpPr>
        <p:pic>
          <p:nvPicPr>
            <p:cNvPr id="31" name="Рисунок 30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0437" y="1387700"/>
              <a:ext cx="3075657" cy="2728892"/>
            </a:xfrm>
            <a:prstGeom prst="rect">
              <a:avLst/>
            </a:prstGeom>
          </p:spPr>
        </p:pic>
        <p:sp>
          <p:nvSpPr>
            <p:cNvPr id="32" name="Прямоугольник 31"/>
            <p:cNvSpPr/>
            <p:nvPr userDrawn="1"/>
          </p:nvSpPr>
          <p:spPr>
            <a:xfrm>
              <a:off x="5589006" y="2025532"/>
              <a:ext cx="3243196" cy="107721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3200" b="1">
                  <a:solidFill>
                    <a:schemeClr val="tx1"/>
                  </a:solidFill>
                </a:rPr>
                <a:t>СПАСИБО </a:t>
              </a:r>
            </a:p>
            <a:p>
              <a:r>
                <a:rPr lang="ru-RU" sz="3200" b="1">
                  <a:solidFill>
                    <a:schemeClr val="tx1"/>
                  </a:solidFill>
                </a:rPr>
                <a:t>ЗА ВНИМАНИЕ</a:t>
              </a:r>
              <a:endParaRPr lang="en-US" sz="3200" b="1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Группа 16"/>
          <p:cNvGrpSpPr/>
          <p:nvPr userDrawn="1"/>
        </p:nvGrpSpPr>
        <p:grpSpPr>
          <a:xfrm>
            <a:off x="0" y="5264409"/>
            <a:ext cx="12192001" cy="1593590"/>
            <a:chOff x="0" y="5264409"/>
            <a:chExt cx="12192001" cy="1593590"/>
          </a:xfrm>
        </p:grpSpPr>
        <p:sp>
          <p:nvSpPr>
            <p:cNvPr id="18" name="Прямоугольник 17"/>
            <p:cNvSpPr/>
            <p:nvPr userDrawn="1"/>
          </p:nvSpPr>
          <p:spPr>
            <a:xfrm>
              <a:off x="0" y="5264409"/>
              <a:ext cx="12192001" cy="1593590"/>
            </a:xfrm>
            <a:prstGeom prst="rect">
              <a:avLst/>
            </a:prstGeom>
            <a:gradFill>
              <a:gsLst>
                <a:gs pos="0">
                  <a:srgbClr val="1A8C3A"/>
                </a:gs>
                <a:gs pos="85000">
                  <a:srgbClr val="72BF44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" name="Группа 19"/>
            <p:cNvGrpSpPr/>
            <p:nvPr userDrawn="1"/>
          </p:nvGrpSpPr>
          <p:grpSpPr>
            <a:xfrm>
              <a:off x="455575" y="5975991"/>
              <a:ext cx="1184476" cy="478962"/>
              <a:chOff x="513694" y="5949538"/>
              <a:chExt cx="1184476" cy="478962"/>
            </a:xfrm>
          </p:grpSpPr>
          <p:pic>
            <p:nvPicPr>
              <p:cNvPr id="40" name="Рисунок 39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3694" y="5949538"/>
                <a:ext cx="478962" cy="478962"/>
              </a:xfrm>
              <a:prstGeom prst="rect">
                <a:avLst/>
              </a:prstGeom>
            </p:spPr>
          </p:pic>
          <p:sp>
            <p:nvSpPr>
              <p:cNvPr id="41" name="Прямоугольник 40"/>
              <p:cNvSpPr/>
              <p:nvPr/>
            </p:nvSpPr>
            <p:spPr>
              <a:xfrm>
                <a:off x="992655" y="6019742"/>
                <a:ext cx="70551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600" b="1">
                    <a:solidFill>
                      <a:schemeClr val="bg1"/>
                    </a:solidFill>
                  </a:rPr>
                  <a:t>595</a:t>
                </a:r>
                <a:endParaRPr lang="en-US" sz="16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3" name="Группа 32"/>
            <p:cNvGrpSpPr/>
            <p:nvPr userDrawn="1"/>
          </p:nvGrpSpPr>
          <p:grpSpPr>
            <a:xfrm>
              <a:off x="1976676" y="5975991"/>
              <a:ext cx="1835277" cy="478962"/>
              <a:chOff x="2202333" y="5949538"/>
              <a:chExt cx="1835277" cy="478962"/>
            </a:xfrm>
          </p:grpSpPr>
          <p:pic>
            <p:nvPicPr>
              <p:cNvPr id="38" name="Рисунок 3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02333" y="5949538"/>
                <a:ext cx="481456" cy="478962"/>
              </a:xfrm>
              <a:prstGeom prst="rect">
                <a:avLst/>
              </a:prstGeom>
            </p:spPr>
          </p:pic>
          <p:sp>
            <p:nvSpPr>
              <p:cNvPr id="39" name="Прямоугольник 38"/>
              <p:cNvSpPr/>
              <p:nvPr/>
            </p:nvSpPr>
            <p:spPr>
              <a:xfrm>
                <a:off x="2683789" y="6019742"/>
                <a:ext cx="1353821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b="1">
                    <a:solidFill>
                      <a:schemeClr val="bg1"/>
                    </a:solidFill>
                  </a:rPr>
                  <a:t>bankffin.kz</a:t>
                </a:r>
                <a:endParaRPr lang="en-US" sz="16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4" name="Группа 33"/>
            <p:cNvGrpSpPr/>
            <p:nvPr userDrawn="1"/>
          </p:nvGrpSpPr>
          <p:grpSpPr>
            <a:xfrm>
              <a:off x="4148578" y="5975991"/>
              <a:ext cx="1901691" cy="478962"/>
              <a:chOff x="3893467" y="5949538"/>
              <a:chExt cx="1901691" cy="478962"/>
            </a:xfrm>
          </p:grpSpPr>
          <p:pic>
            <p:nvPicPr>
              <p:cNvPr id="36" name="Рисунок 35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93467" y="5949538"/>
                <a:ext cx="481456" cy="478962"/>
              </a:xfrm>
              <a:prstGeom prst="rect">
                <a:avLst/>
              </a:prstGeom>
            </p:spPr>
          </p:pic>
          <p:sp>
            <p:nvSpPr>
              <p:cNvPr id="37" name="Прямоугольник 36"/>
              <p:cNvSpPr/>
              <p:nvPr/>
            </p:nvSpPr>
            <p:spPr>
              <a:xfrm>
                <a:off x="4374923" y="6019742"/>
                <a:ext cx="142023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b="1">
                    <a:solidFill>
                      <a:schemeClr val="bg1"/>
                    </a:solidFill>
                  </a:rPr>
                  <a:t>bankffin.kz</a:t>
                </a:r>
                <a:endParaRPr lang="en-US" sz="16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5" name="Прямоугольник 34"/>
            <p:cNvSpPr/>
            <p:nvPr userDrawn="1"/>
          </p:nvSpPr>
          <p:spPr>
            <a:xfrm>
              <a:off x="7861464" y="5984640"/>
              <a:ext cx="393073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ru-RU" sz="1200">
                  <a:solidFill>
                    <a:schemeClr val="bg1"/>
                  </a:solidFill>
                </a:rPr>
                <a:t>09.02.2021 берілген №1.1.260 ҚНРДА лицензиясы</a:t>
              </a:r>
              <a:endParaRPr lang="en-US" sz="1200">
                <a:solidFill>
                  <a:schemeClr val="bg1"/>
                </a:solidFill>
              </a:endParaRPr>
            </a:p>
            <a:p>
              <a:pPr algn="r"/>
              <a:r>
                <a:rPr lang="ru-RU" sz="1200">
                  <a:solidFill>
                    <a:schemeClr val="bg1"/>
                  </a:solidFill>
                </a:rPr>
                <a:t>Лицензия АРРФР № 1.1.260 от 09.02.2021</a:t>
              </a:r>
              <a:endParaRPr lang="en-US" sz="12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5229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олько заголовок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027121" y="6347297"/>
            <a:ext cx="453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52CDF7-6B29-4B43-8188-48493BFC51F6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157" y="471751"/>
            <a:ext cx="1404040" cy="421212"/>
          </a:xfrm>
          <a:prstGeom prst="rect">
            <a:avLst/>
          </a:prstGeom>
        </p:spPr>
      </p:pic>
      <p:sp>
        <p:nvSpPr>
          <p:cNvPr id="1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48900" y="471751"/>
            <a:ext cx="7628300" cy="424332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741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Single Corner Rounded 6">
            <a:extLst>
              <a:ext uri="{FF2B5EF4-FFF2-40B4-BE49-F238E27FC236}">
                <a16:creationId xmlns:a16="http://schemas.microsoft.com/office/drawing/2014/main" id="{C3837545-499F-CBDA-B90B-BBCBB620D6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0" y="0"/>
            <a:ext cx="10668000" cy="5257800"/>
          </a:xfrm>
          <a:prstGeom prst="round1Rect">
            <a:avLst/>
          </a:prstGeom>
          <a:solidFill>
            <a:srgbClr val="1D75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D63261-2F5E-1099-56C5-C4E6147ED7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491" y="752908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6F9A86-88C4-E47A-40B5-D326690C44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491" y="3251056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904FB03-728A-B409-C493-F1D8254A9F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257" y="5686859"/>
            <a:ext cx="2152650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7126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Single Corner Rounded 6">
            <a:extLst>
              <a:ext uri="{FF2B5EF4-FFF2-40B4-BE49-F238E27FC236}">
                <a16:creationId xmlns:a16="http://schemas.microsoft.com/office/drawing/2014/main" id="{D7C424AB-778F-52C4-817D-8CC0B14F1311}"/>
              </a:ext>
            </a:extLst>
          </p:cNvPr>
          <p:cNvSpPr/>
          <p:nvPr userDrawn="1"/>
        </p:nvSpPr>
        <p:spPr>
          <a:xfrm rot="10800000" flipH="1">
            <a:off x="0" y="0"/>
            <a:ext cx="12099636" cy="1117600"/>
          </a:xfrm>
          <a:prstGeom prst="round1Rect">
            <a:avLst/>
          </a:prstGeom>
          <a:solidFill>
            <a:srgbClr val="1D754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F1F1F-259E-FC29-C638-ADF89105F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032" y="294842"/>
            <a:ext cx="9127836" cy="5123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B7276-6F02-A942-E19E-178CCF4A6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6EEC6A7-2D0C-5E83-A94F-B2E99AEAF31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1421" y="365125"/>
            <a:ext cx="1483547" cy="446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60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027121" y="6347297"/>
            <a:ext cx="453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52CDF7-6B29-4B43-8188-48493BFC5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85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</p:sldLayoutIdLst>
  <p:transition/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b="1" kern="1200" baseline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027121" y="6347297"/>
            <a:ext cx="453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852CDF7-6B29-4B43-8188-48493BFC51F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286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b="1" kern="1200" baseline="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F4D125-E70E-05F2-74E9-A80F3E694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48093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72F61-F37C-FD81-CF0C-0858CF29C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8E8FA027-7EBB-7085-E54D-0A08F4D0E4D3}"/>
              </a:ext>
            </a:extLst>
          </p:cNvPr>
          <p:cNvSpPr txBox="1">
            <a:spLocks/>
          </p:cNvSpPr>
          <p:nvPr/>
        </p:nvSpPr>
        <p:spPr>
          <a:xfrm>
            <a:off x="374073" y="99396"/>
            <a:ext cx="10036019" cy="1024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>
                <a:solidFill>
                  <a:schemeClr val="bg1"/>
                </a:solidFill>
              </a:rPr>
              <a:t>Инфраструктура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0FE9385-07C7-4441-1549-50E2E142B113}"/>
              </a:ext>
            </a:extLst>
          </p:cNvPr>
          <p:cNvSpPr/>
          <p:nvPr/>
        </p:nvSpPr>
        <p:spPr>
          <a:xfrm>
            <a:off x="10160000" y="266700"/>
            <a:ext cx="1841500" cy="736600"/>
          </a:xfrm>
          <a:prstGeom prst="rect">
            <a:avLst/>
          </a:prstGeom>
          <a:solidFill>
            <a:srgbClr val="4A91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pic>
        <p:nvPicPr>
          <p:cNvPr id="6" name="Picture 2" descr="Picture background">
            <a:extLst>
              <a:ext uri="{FF2B5EF4-FFF2-40B4-BE49-F238E27FC236}">
                <a16:creationId xmlns:a16="http://schemas.microsoft.com/office/drawing/2014/main" id="{A4AD7C88-34FA-AEA9-3AD9-C3E9BBA45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6075" y="211256"/>
            <a:ext cx="3082925" cy="616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554BE090-2150-3E74-43E8-C6FF3EE35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KZ" altLang="ru-K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9EF3C7-5A5B-49D2-995F-E9F35E9321F8}"/>
              </a:ext>
            </a:extLst>
          </p:cNvPr>
          <p:cNvSpPr txBox="1"/>
          <p:nvPr/>
        </p:nvSpPr>
        <p:spPr>
          <a:xfrm>
            <a:off x="264816" y="1235503"/>
            <a:ext cx="105294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>
                <a:solidFill>
                  <a:srgbClr val="FF0000"/>
                </a:solidFill>
              </a:rPr>
              <a:t>! Необходимо обеспечить наличие достаточных ресурсов на серверах у Омбудсмена. </a:t>
            </a:r>
          </a:p>
          <a:p>
            <a:r>
              <a:rPr lang="ru-RU" sz="1050" dirty="0">
                <a:solidFill>
                  <a:srgbClr val="FF0000"/>
                </a:solidFill>
              </a:rPr>
              <a:t>! Необходимо обеспечить администрирование серверов и сети с их стороны.</a:t>
            </a:r>
          </a:p>
          <a:p>
            <a:endParaRPr lang="ru-RU" sz="1050" dirty="0"/>
          </a:p>
          <a:p>
            <a:r>
              <a:rPr lang="ru-RU" sz="1050" dirty="0"/>
              <a:t>Расчеты предварительные, требования ресурсов в горизонте 5 лет, исходя из нагрузки 100 000 обращений в месяц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8E770FF4-DD48-4625-9B01-F6D31F318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425466"/>
              </p:ext>
            </p:extLst>
          </p:nvPr>
        </p:nvGraphicFramePr>
        <p:xfrm>
          <a:off x="858980" y="2086027"/>
          <a:ext cx="6465456" cy="441131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242711">
                  <a:extLst>
                    <a:ext uri="{9D8B030D-6E8A-4147-A177-3AD203B41FA5}">
                      <a16:colId xmlns:a16="http://schemas.microsoft.com/office/drawing/2014/main" val="1887364618"/>
                    </a:ext>
                  </a:extLst>
                </a:gridCol>
                <a:gridCol w="974018">
                  <a:extLst>
                    <a:ext uri="{9D8B030D-6E8A-4147-A177-3AD203B41FA5}">
                      <a16:colId xmlns:a16="http://schemas.microsoft.com/office/drawing/2014/main" val="3540374023"/>
                    </a:ext>
                  </a:extLst>
                </a:gridCol>
                <a:gridCol w="696925">
                  <a:extLst>
                    <a:ext uri="{9D8B030D-6E8A-4147-A177-3AD203B41FA5}">
                      <a16:colId xmlns:a16="http://schemas.microsoft.com/office/drawing/2014/main" val="3367124268"/>
                    </a:ext>
                  </a:extLst>
                </a:gridCol>
                <a:gridCol w="428232">
                  <a:extLst>
                    <a:ext uri="{9D8B030D-6E8A-4147-A177-3AD203B41FA5}">
                      <a16:colId xmlns:a16="http://schemas.microsoft.com/office/drawing/2014/main" val="3457097974"/>
                    </a:ext>
                  </a:extLst>
                </a:gridCol>
                <a:gridCol w="352661">
                  <a:extLst>
                    <a:ext uri="{9D8B030D-6E8A-4147-A177-3AD203B41FA5}">
                      <a16:colId xmlns:a16="http://schemas.microsoft.com/office/drawing/2014/main" val="2504452857"/>
                    </a:ext>
                  </a:extLst>
                </a:gridCol>
                <a:gridCol w="1209124">
                  <a:extLst>
                    <a:ext uri="{9D8B030D-6E8A-4147-A177-3AD203B41FA5}">
                      <a16:colId xmlns:a16="http://schemas.microsoft.com/office/drawing/2014/main" val="4109438547"/>
                    </a:ext>
                  </a:extLst>
                </a:gridCol>
                <a:gridCol w="1561785">
                  <a:extLst>
                    <a:ext uri="{9D8B030D-6E8A-4147-A177-3AD203B41FA5}">
                      <a16:colId xmlns:a16="http://schemas.microsoft.com/office/drawing/2014/main" val="2362117140"/>
                    </a:ext>
                  </a:extLst>
                </a:gridCol>
              </a:tblGrid>
              <a:tr h="106520">
                <a:tc gridSpan="7">
                  <a:txBody>
                    <a:bodyPr/>
                    <a:lstStyle/>
                    <a:p>
                      <a:pPr algn="l" fontAlgn="b"/>
                      <a:r>
                        <a:rPr lang="ru-RU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Виртуальные сервера</a:t>
                      </a:r>
                      <a:endParaRPr lang="ru-RU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683657"/>
                  </a:ext>
                </a:extLst>
              </a:tr>
              <a:tr h="351735"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>
                          <a:effectLst/>
                        </a:rPr>
                        <a:t> 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1" i="1" u="none" strike="noStrike" dirty="0">
                          <a:effectLst/>
                        </a:rPr>
                        <a:t>VM</a:t>
                      </a:r>
                      <a:endParaRPr lang="en-US" sz="700" b="1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1" u="none" strike="noStrike" dirty="0">
                          <a:effectLst/>
                        </a:rPr>
                        <a:t>CPU (</a:t>
                      </a:r>
                      <a:r>
                        <a:rPr lang="ru-RU" sz="700" b="1" i="1" u="none" strike="noStrike" dirty="0">
                          <a:effectLst/>
                        </a:rPr>
                        <a:t>количество ядер)</a:t>
                      </a:r>
                      <a:endParaRPr lang="en-US" sz="700" b="1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ctr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700" b="1" i="1" u="none" strike="noStrike" dirty="0">
                          <a:effectLst/>
                        </a:rPr>
                        <a:t>RAM (GB)</a:t>
                      </a:r>
                      <a:endParaRPr lang="en-US" sz="700" b="1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ctr"/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SSD (GB)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1" u="none" strike="noStrike" dirty="0">
                          <a:effectLst/>
                        </a:rPr>
                        <a:t>SSD (GB)</a:t>
                      </a:r>
                      <a:endParaRPr lang="en-US" sz="700" b="1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b="1" i="1" u="none" strike="noStrike" dirty="0">
                          <a:effectLst/>
                        </a:rPr>
                        <a:t>Комментарии</a:t>
                      </a:r>
                      <a:endParaRPr lang="ru-RU" sz="700" b="1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ctr"/>
                </a:tc>
                <a:extLst>
                  <a:ext uri="{0D108BD9-81ED-4DB2-BD59-A6C34878D82A}">
                    <a16:rowId xmlns:a16="http://schemas.microsoft.com/office/drawing/2014/main" val="252410724"/>
                  </a:ext>
                </a:extLst>
              </a:tr>
              <a:tr h="106520"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effectLst/>
                        </a:rPr>
                        <a:t>PROD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k8s-node-01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12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r>
                        <a:rPr lang="ru-RU" sz="700" u="none" strike="noStrike">
                          <a:effectLst/>
                        </a:rPr>
                        <a:t>80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80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>
                          <a:effectLst/>
                        </a:rPr>
                        <a:t> 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extLst>
                  <a:ext uri="{0D108BD9-81ED-4DB2-BD59-A6C34878D82A}">
                    <a16:rowId xmlns:a16="http://schemas.microsoft.com/office/drawing/2014/main" val="858538297"/>
                  </a:ext>
                </a:extLst>
              </a:tr>
              <a:tr h="10652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k8s-node-02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12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r>
                        <a:rPr lang="ru-RU" sz="700" u="none" strike="noStrike">
                          <a:effectLst/>
                        </a:rPr>
                        <a:t>80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80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>
                          <a:effectLst/>
                        </a:rPr>
                        <a:t> 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extLst>
                  <a:ext uri="{0D108BD9-81ED-4DB2-BD59-A6C34878D82A}">
                    <a16:rowId xmlns:a16="http://schemas.microsoft.com/office/drawing/2014/main" val="287635946"/>
                  </a:ext>
                </a:extLst>
              </a:tr>
              <a:tr h="10652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k8s-node-03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12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r>
                        <a:rPr lang="ru-RU" sz="700" u="none" strike="noStrike">
                          <a:effectLst/>
                        </a:rPr>
                        <a:t>80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80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>
                          <a:effectLst/>
                        </a:rPr>
                        <a:t> 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extLst>
                  <a:ext uri="{0D108BD9-81ED-4DB2-BD59-A6C34878D82A}">
                    <a16:rowId xmlns:a16="http://schemas.microsoft.com/office/drawing/2014/main" val="933669870"/>
                  </a:ext>
                </a:extLst>
              </a:tr>
              <a:tr h="10652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k8s-node-04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 dirty="0">
                          <a:effectLst/>
                        </a:rPr>
                        <a:t>12</a:t>
                      </a:r>
                      <a:endParaRPr lang="ru-RU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r>
                        <a:rPr lang="ru-RU" sz="700" u="none" strike="noStrike">
                          <a:effectLst/>
                        </a:rPr>
                        <a:t>80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80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>
                          <a:effectLst/>
                        </a:rPr>
                        <a:t> 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extLst>
                  <a:ext uri="{0D108BD9-81ED-4DB2-BD59-A6C34878D82A}">
                    <a16:rowId xmlns:a16="http://schemas.microsoft.com/office/drawing/2014/main" val="3505889888"/>
                  </a:ext>
                </a:extLst>
              </a:tr>
              <a:tr h="10652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haproxy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1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r>
                        <a:rPr lang="ru-RU" sz="700" u="none" strike="noStrike">
                          <a:effectLst/>
                        </a:rPr>
                        <a:t>20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20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DMZ, </a:t>
                      </a:r>
                      <a:r>
                        <a:rPr lang="ru-RU" sz="700" u="none" strike="noStrike">
                          <a:effectLst/>
                        </a:rPr>
                        <a:t>внешний </a:t>
                      </a:r>
                      <a:r>
                        <a:rPr lang="en-US" sz="700" u="none" strike="noStrike">
                          <a:effectLst/>
                        </a:rPr>
                        <a:t>ip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extLst>
                  <a:ext uri="{0D108BD9-81ED-4DB2-BD59-A6C34878D82A}">
                    <a16:rowId xmlns:a16="http://schemas.microsoft.com/office/drawing/2014/main" val="3319353885"/>
                  </a:ext>
                </a:extLst>
              </a:tr>
              <a:tr h="10652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bastion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1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r>
                        <a:rPr lang="ru-RU" sz="700" u="none" strike="noStrike">
                          <a:effectLst/>
                        </a:rPr>
                        <a:t>20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20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>
                          <a:effectLst/>
                        </a:rPr>
                        <a:t> 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extLst>
                  <a:ext uri="{0D108BD9-81ED-4DB2-BD59-A6C34878D82A}">
                    <a16:rowId xmlns:a16="http://schemas.microsoft.com/office/drawing/2014/main" val="340863167"/>
                  </a:ext>
                </a:extLst>
              </a:tr>
              <a:tr h="10652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db-01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32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r>
                        <a:rPr lang="ru-RU" sz="700" u="none" strike="noStrike">
                          <a:effectLst/>
                        </a:rPr>
                        <a:t>500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500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>
                          <a:effectLst/>
                        </a:rPr>
                        <a:t> 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extLst>
                  <a:ext uri="{0D108BD9-81ED-4DB2-BD59-A6C34878D82A}">
                    <a16:rowId xmlns:a16="http://schemas.microsoft.com/office/drawing/2014/main" val="3727506964"/>
                  </a:ext>
                </a:extLst>
              </a:tr>
              <a:tr h="18831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db-02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32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r>
                        <a:rPr lang="ru-RU" sz="700" u="none" strike="noStrike">
                          <a:effectLst/>
                        </a:rPr>
                        <a:t>500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 dirty="0">
                          <a:effectLst/>
                        </a:rPr>
                        <a:t>500</a:t>
                      </a:r>
                      <a:endParaRPr lang="ru-RU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>
                          <a:effectLst/>
                        </a:rPr>
                        <a:t>Реплика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extLst>
                  <a:ext uri="{0D108BD9-81ED-4DB2-BD59-A6C34878D82A}">
                    <a16:rowId xmlns:a16="http://schemas.microsoft.com/office/drawing/2014/main" val="1238309510"/>
                  </a:ext>
                </a:extLst>
              </a:tr>
              <a:tr h="10652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elk-01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16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32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r>
                        <a:rPr lang="ru-RU" sz="700" u="none" strike="noStrike">
                          <a:effectLst/>
                        </a:rPr>
                        <a:t>500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500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>
                          <a:effectLst/>
                        </a:rPr>
                        <a:t>Для логирования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extLst>
                  <a:ext uri="{0D108BD9-81ED-4DB2-BD59-A6C34878D82A}">
                    <a16:rowId xmlns:a16="http://schemas.microsoft.com/office/drawing/2014/main" val="2229677505"/>
                  </a:ext>
                </a:extLst>
              </a:tr>
              <a:tr h="10652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elk-02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16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32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r>
                        <a:rPr lang="ru-RU" sz="700" u="none" strike="noStrike">
                          <a:effectLst/>
                        </a:rPr>
                        <a:t>500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500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>
                          <a:effectLst/>
                        </a:rPr>
                        <a:t> 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extLst>
                  <a:ext uri="{0D108BD9-81ED-4DB2-BD59-A6C34878D82A}">
                    <a16:rowId xmlns:a16="http://schemas.microsoft.com/office/drawing/2014/main" val="1404505367"/>
                  </a:ext>
                </a:extLst>
              </a:tr>
              <a:tr h="10652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elk-03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16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32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r>
                        <a:rPr lang="ru-RU" sz="700" u="none" strike="noStrike">
                          <a:effectLst/>
                        </a:rPr>
                        <a:t>500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500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>
                          <a:effectLst/>
                        </a:rPr>
                        <a:t> 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extLst>
                  <a:ext uri="{0D108BD9-81ED-4DB2-BD59-A6C34878D82A}">
                    <a16:rowId xmlns:a16="http://schemas.microsoft.com/office/drawing/2014/main" val="3092292804"/>
                  </a:ext>
                </a:extLst>
              </a:tr>
              <a:tr h="10652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>
                          <a:effectLst/>
                        </a:rPr>
                        <a:t>ИТОГО</a:t>
                      </a:r>
                      <a:endParaRPr lang="ru-RU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 dirty="0">
                          <a:effectLst/>
                        </a:rPr>
                        <a:t>90</a:t>
                      </a:r>
                      <a:endParaRPr lang="ru-RU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210</a:t>
                      </a:r>
                      <a:endParaRPr lang="ru-RU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r>
                        <a:rPr lang="ru-RU" sz="700" u="none" strike="noStrike">
                          <a:effectLst/>
                        </a:rPr>
                        <a:t>2860</a:t>
                      </a:r>
                      <a:endParaRPr lang="ru-RU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 dirty="0">
                          <a:effectLst/>
                        </a:rPr>
                        <a:t>2860</a:t>
                      </a:r>
                      <a:endParaRPr lang="ru-RU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>
                          <a:effectLst/>
                        </a:rPr>
                        <a:t> 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extLst>
                  <a:ext uri="{0D108BD9-81ED-4DB2-BD59-A6C34878D82A}">
                    <a16:rowId xmlns:a16="http://schemas.microsoft.com/office/drawing/2014/main" val="3895762951"/>
                  </a:ext>
                </a:extLst>
              </a:tr>
              <a:tr h="106520">
                <a:tc rowSpan="10"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effectLst/>
                        </a:rPr>
                        <a:t>DEV/STAGE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k8s-node-01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16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r>
                        <a:rPr lang="ru-RU" sz="700" u="none" strike="noStrike">
                          <a:effectLst/>
                        </a:rPr>
                        <a:t>80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80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 dirty="0">
                          <a:effectLst/>
                        </a:rPr>
                        <a:t> </a:t>
                      </a:r>
                      <a:endParaRPr lang="ru-RU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extLst>
                  <a:ext uri="{0D108BD9-81ED-4DB2-BD59-A6C34878D82A}">
                    <a16:rowId xmlns:a16="http://schemas.microsoft.com/office/drawing/2014/main" val="4006379278"/>
                  </a:ext>
                </a:extLst>
              </a:tr>
              <a:tr h="10652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k8s-node-02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16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r>
                        <a:rPr lang="ru-RU" sz="700" u="none" strike="noStrike">
                          <a:effectLst/>
                        </a:rPr>
                        <a:t>80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 dirty="0">
                          <a:effectLst/>
                        </a:rPr>
                        <a:t>80</a:t>
                      </a:r>
                      <a:endParaRPr lang="ru-RU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>
                          <a:effectLst/>
                        </a:rPr>
                        <a:t> 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extLst>
                  <a:ext uri="{0D108BD9-81ED-4DB2-BD59-A6C34878D82A}">
                    <a16:rowId xmlns:a16="http://schemas.microsoft.com/office/drawing/2014/main" val="1404877075"/>
                  </a:ext>
                </a:extLst>
              </a:tr>
              <a:tr h="10652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k8s-node-03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16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r>
                        <a:rPr lang="ru-RU" sz="700" u="none" strike="noStrike">
                          <a:effectLst/>
                        </a:rPr>
                        <a:t>80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80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>
                          <a:effectLst/>
                        </a:rPr>
                        <a:t> 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extLst>
                  <a:ext uri="{0D108BD9-81ED-4DB2-BD59-A6C34878D82A}">
                    <a16:rowId xmlns:a16="http://schemas.microsoft.com/office/drawing/2014/main" val="2075924594"/>
                  </a:ext>
                </a:extLst>
              </a:tr>
              <a:tr h="10652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haproxy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1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r>
                        <a:rPr lang="ru-RU" sz="700" u="none" strike="noStrike">
                          <a:effectLst/>
                        </a:rPr>
                        <a:t>20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20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DMZ, </a:t>
                      </a:r>
                      <a:r>
                        <a:rPr lang="ru-RU" sz="700" u="none" strike="noStrike">
                          <a:effectLst/>
                        </a:rPr>
                        <a:t>внешний </a:t>
                      </a:r>
                      <a:r>
                        <a:rPr lang="en-US" sz="700" u="none" strike="noStrike">
                          <a:effectLst/>
                        </a:rPr>
                        <a:t>ip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extLst>
                  <a:ext uri="{0D108BD9-81ED-4DB2-BD59-A6C34878D82A}">
                    <a16:rowId xmlns:a16="http://schemas.microsoft.com/office/drawing/2014/main" val="1596131499"/>
                  </a:ext>
                </a:extLst>
              </a:tr>
              <a:tr h="10652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bastion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1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r>
                        <a:rPr lang="ru-RU" sz="700" u="none" strike="noStrike">
                          <a:effectLst/>
                        </a:rPr>
                        <a:t>20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 dirty="0">
                          <a:effectLst/>
                        </a:rPr>
                        <a:t>20</a:t>
                      </a:r>
                      <a:endParaRPr lang="ru-RU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>
                          <a:effectLst/>
                        </a:rPr>
                        <a:t> 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extLst>
                  <a:ext uri="{0D108BD9-81ED-4DB2-BD59-A6C34878D82A}">
                    <a16:rowId xmlns:a16="http://schemas.microsoft.com/office/drawing/2014/main" val="3242209889"/>
                  </a:ext>
                </a:extLst>
              </a:tr>
              <a:tr h="10652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db-01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8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r>
                        <a:rPr lang="ru-RU" sz="700" u="none" strike="noStrike">
                          <a:effectLst/>
                        </a:rPr>
                        <a:t>50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50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>
                          <a:effectLst/>
                        </a:rPr>
                        <a:t> 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extLst>
                  <a:ext uri="{0D108BD9-81ED-4DB2-BD59-A6C34878D82A}">
                    <a16:rowId xmlns:a16="http://schemas.microsoft.com/office/drawing/2014/main" val="707353671"/>
                  </a:ext>
                </a:extLst>
              </a:tr>
              <a:tr h="10652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db-02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8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r>
                        <a:rPr lang="ru-RU" sz="700" u="none" strike="noStrike">
                          <a:effectLst/>
                        </a:rPr>
                        <a:t>50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50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>
                          <a:effectLst/>
                        </a:rPr>
                        <a:t>Реплика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extLst>
                  <a:ext uri="{0D108BD9-81ED-4DB2-BD59-A6C34878D82A}">
                    <a16:rowId xmlns:a16="http://schemas.microsoft.com/office/drawing/2014/main" val="2159533529"/>
                  </a:ext>
                </a:extLst>
              </a:tr>
              <a:tr h="10652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elk-01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24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r>
                        <a:rPr lang="ru-RU" sz="700" u="none" strike="noStrike">
                          <a:effectLst/>
                        </a:rPr>
                        <a:t>200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 dirty="0">
                          <a:effectLst/>
                        </a:rPr>
                        <a:t>200</a:t>
                      </a:r>
                      <a:endParaRPr lang="ru-RU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>
                          <a:effectLst/>
                        </a:rPr>
                        <a:t>Для логирования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extLst>
                  <a:ext uri="{0D108BD9-81ED-4DB2-BD59-A6C34878D82A}">
                    <a16:rowId xmlns:a16="http://schemas.microsoft.com/office/drawing/2014/main" val="1380638911"/>
                  </a:ext>
                </a:extLst>
              </a:tr>
              <a:tr h="10652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</a:rPr>
                        <a:t>elk-02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24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r>
                        <a:rPr lang="ru-RU" sz="700" u="none" strike="noStrike">
                          <a:effectLst/>
                        </a:rPr>
                        <a:t>200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200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>
                          <a:effectLst/>
                        </a:rPr>
                        <a:t> 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extLst>
                  <a:ext uri="{0D108BD9-81ED-4DB2-BD59-A6C34878D82A}">
                    <a16:rowId xmlns:a16="http://schemas.microsoft.com/office/drawing/2014/main" val="4171402250"/>
                  </a:ext>
                </a:extLst>
              </a:tr>
              <a:tr h="10652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>
                          <a:effectLst/>
                        </a:rPr>
                        <a:t>ИТОГО</a:t>
                      </a:r>
                      <a:endParaRPr lang="ru-RU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50</a:t>
                      </a:r>
                      <a:endParaRPr lang="ru-RU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114</a:t>
                      </a:r>
                      <a:endParaRPr lang="ru-RU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r>
                        <a:rPr lang="ru-RU" sz="700" u="none" strike="noStrike">
                          <a:effectLst/>
                        </a:rPr>
                        <a:t>780</a:t>
                      </a:r>
                      <a:endParaRPr lang="ru-RU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 dirty="0">
                          <a:effectLst/>
                        </a:rPr>
                        <a:t>780</a:t>
                      </a:r>
                      <a:endParaRPr lang="ru-RU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>
                          <a:effectLst/>
                        </a:rPr>
                        <a:t> 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extLst>
                  <a:ext uri="{0D108BD9-81ED-4DB2-BD59-A6C34878D82A}">
                    <a16:rowId xmlns:a16="http://schemas.microsoft.com/office/drawing/2014/main" val="4219908652"/>
                  </a:ext>
                </a:extLst>
              </a:tr>
              <a:tr h="106520"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1" u="none" strike="noStrike" dirty="0">
                          <a:effectLst/>
                        </a:rPr>
                        <a:t>Итого</a:t>
                      </a:r>
                      <a:endParaRPr lang="ru-RU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>
                          <a:effectLst/>
                        </a:rPr>
                        <a:t> 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140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324</a:t>
                      </a:r>
                      <a:endParaRPr lang="ru-RU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r>
                        <a:rPr lang="ru-RU" sz="700" u="none" strike="noStrike">
                          <a:effectLst/>
                        </a:rPr>
                        <a:t>3640</a:t>
                      </a:r>
                      <a:endParaRPr lang="ru-RU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 dirty="0">
                          <a:effectLst/>
                        </a:rPr>
                        <a:t>3640</a:t>
                      </a:r>
                      <a:endParaRPr lang="ru-RU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>
                          <a:effectLst/>
                        </a:rPr>
                        <a:t> 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extLst>
                  <a:ext uri="{0D108BD9-81ED-4DB2-BD59-A6C34878D82A}">
                    <a16:rowId xmlns:a16="http://schemas.microsoft.com/office/drawing/2014/main" val="1596573950"/>
                  </a:ext>
                </a:extLst>
              </a:tr>
              <a:tr h="106520"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 dirty="0">
                          <a:effectLst/>
                        </a:rPr>
                        <a:t> </a:t>
                      </a:r>
                      <a:endParaRPr lang="ru-RU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>
                          <a:effectLst/>
                        </a:rPr>
                        <a:t> 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 dirty="0">
                          <a:effectLst/>
                        </a:rPr>
                        <a:t> </a:t>
                      </a:r>
                      <a:endParaRPr lang="ru-RU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>
                          <a:effectLst/>
                        </a:rPr>
                        <a:t> 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>
                          <a:effectLst/>
                        </a:rPr>
                        <a:t> 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 dirty="0">
                          <a:effectLst/>
                        </a:rPr>
                        <a:t> </a:t>
                      </a:r>
                      <a:endParaRPr lang="ru-RU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 dirty="0">
                          <a:effectLst/>
                        </a:rPr>
                        <a:t> </a:t>
                      </a:r>
                      <a:endParaRPr lang="ru-RU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746804"/>
                  </a:ext>
                </a:extLst>
              </a:tr>
              <a:tr h="106520">
                <a:tc gridSpan="7">
                  <a:txBody>
                    <a:bodyPr/>
                    <a:lstStyle/>
                    <a:p>
                      <a:pPr algn="l" fontAlgn="b"/>
                      <a:r>
                        <a:rPr lang="ru-RU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S3 Хранилище (для хранения файлов)</a:t>
                      </a:r>
                      <a:endParaRPr lang="ru-RU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584782"/>
                  </a:ext>
                </a:extLst>
              </a:tr>
              <a:tr h="351735"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 dirty="0">
                          <a:effectLst/>
                        </a:rPr>
                        <a:t> </a:t>
                      </a:r>
                      <a:endParaRPr lang="ru-RU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700" b="1" i="1" u="none" strike="noStrike" dirty="0">
                          <a:effectLst/>
                        </a:rPr>
                        <a:t>Количество </a:t>
                      </a:r>
                      <a:r>
                        <a:rPr lang="ru-RU" sz="700" b="1" i="1" u="none" strike="noStrike" dirty="0" err="1">
                          <a:effectLst/>
                        </a:rPr>
                        <a:t>бакетов</a:t>
                      </a:r>
                      <a:endParaRPr lang="ru-RU" sz="700" b="1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700" b="1" i="1" u="none" strike="noStrike" dirty="0">
                          <a:effectLst/>
                        </a:rPr>
                        <a:t>Дисковое пространство</a:t>
                      </a:r>
                      <a:endParaRPr lang="ru-RU" sz="700" b="1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/>
                </a:tc>
                <a:tc gridSpan="4">
                  <a:txBody>
                    <a:bodyPr/>
                    <a:lstStyle/>
                    <a:p>
                      <a:pPr algn="l" fontAlgn="t"/>
                      <a:r>
                        <a:rPr lang="ru-RU" sz="700" b="1" i="1" u="none" strike="noStrike" dirty="0">
                          <a:effectLst/>
                        </a:rPr>
                        <a:t>Комментарии</a:t>
                      </a:r>
                      <a:endParaRPr lang="ru-RU" sz="700" b="1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350718"/>
                  </a:ext>
                </a:extLst>
              </a:tr>
              <a:tr h="3980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effectLst/>
                        </a:rPr>
                        <a:t>PROD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 dirty="0">
                          <a:effectLst/>
                        </a:rPr>
                        <a:t>1</a:t>
                      </a:r>
                      <a:endParaRPr lang="ru-RU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</a:rPr>
                        <a:t>30 TB</a:t>
                      </a:r>
                      <a:endParaRPr lang="ru-RU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ctr"/>
                </a:tc>
                <a:tc gridSpan="4">
                  <a:txBody>
                    <a:bodyPr/>
                    <a:lstStyle/>
                    <a:p>
                      <a:pPr algn="l" fontAlgn="t"/>
                      <a:r>
                        <a:rPr lang="ru-RU" sz="700" u="none" strike="noStrike" dirty="0">
                          <a:effectLst/>
                        </a:rPr>
                        <a:t>С расчетом на 5 лет при количестве заявок в месяц 100000, где в среднем одна заявка может содержать документов на 5 МБ. Можно начать с 5 TB с возможностью дальнейшего расширения.</a:t>
                      </a:r>
                      <a:endParaRPr lang="ru-RU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325357"/>
                  </a:ext>
                </a:extLst>
              </a:tr>
              <a:tr h="1854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effectLst/>
                        </a:rPr>
                        <a:t>DEV/STAGE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700" u="none" strike="noStrike">
                          <a:effectLst/>
                        </a:rPr>
                        <a:t>2</a:t>
                      </a:r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</a:rPr>
                        <a:t>500 GB</a:t>
                      </a:r>
                      <a:endParaRPr lang="ru-RU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ctr"/>
                </a:tc>
                <a:tc gridSpan="4">
                  <a:txBody>
                    <a:bodyPr/>
                    <a:lstStyle/>
                    <a:p>
                      <a:pPr algn="l" fontAlgn="b"/>
                      <a:r>
                        <a:rPr lang="ru-RU" sz="700" u="none" strike="noStrike" dirty="0">
                          <a:effectLst/>
                        </a:rPr>
                        <a:t>Для тестов</a:t>
                      </a:r>
                      <a:endParaRPr lang="ru-RU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407433"/>
                  </a:ext>
                </a:extLst>
              </a:tr>
              <a:tr h="106520"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1" u="none" strike="noStrike" dirty="0">
                          <a:effectLst/>
                        </a:rPr>
                        <a:t>Итого</a:t>
                      </a:r>
                      <a:endParaRPr lang="ru-RU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b="1" u="none" strike="noStrike">
                          <a:effectLst/>
                        </a:rPr>
                        <a:t> </a:t>
                      </a:r>
                      <a:endParaRPr lang="ru-RU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u="none" strike="noStrike" dirty="0">
                          <a:effectLst/>
                        </a:rPr>
                        <a:t>30.5 TB</a:t>
                      </a:r>
                      <a:endParaRPr lang="ru-RU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b="1" u="none" strike="noStrike">
                          <a:effectLst/>
                        </a:rPr>
                        <a:t> </a:t>
                      </a:r>
                      <a:endParaRPr lang="ru-RU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ru-RU" sz="700" b="1" u="none" strike="noStrike">
                          <a:effectLst/>
                        </a:rPr>
                        <a:t> </a:t>
                      </a:r>
                      <a:endParaRPr lang="ru-RU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700" b="1" u="none" strike="noStrike" dirty="0">
                          <a:effectLst/>
                        </a:rPr>
                        <a:t> </a:t>
                      </a:r>
                      <a:endParaRPr lang="ru-RU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27" marR="2727" marT="2727" marB="0" anchor="b"/>
                </a:tc>
                <a:extLst>
                  <a:ext uri="{0D108BD9-81ED-4DB2-BD59-A6C34878D82A}">
                    <a16:rowId xmlns:a16="http://schemas.microsoft.com/office/drawing/2014/main" val="3318512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0476045"/>
      </p:ext>
    </p:extLst>
  </p:cSld>
  <p:clrMapOvr>
    <a:masterClrMapping/>
  </p:clrMapOvr>
</p:sld>
</file>

<file path=ppt/theme/theme1.xml><?xml version="1.0" encoding="utf-8"?>
<a:theme xmlns:a="http://schemas.openxmlformats.org/drawingml/2006/main" name="2_Тема Office">
  <a:themeElements>
    <a:clrScheme name="Freedom Bank">
      <a:dk1>
        <a:srgbClr val="262626"/>
      </a:dk1>
      <a:lt1>
        <a:sysClr val="window" lastClr="FFFFFF"/>
      </a:lt1>
      <a:dk2>
        <a:srgbClr val="262626"/>
      </a:dk2>
      <a:lt2>
        <a:srgbClr val="FFFFFF"/>
      </a:lt2>
      <a:accent1>
        <a:srgbClr val="34903B"/>
      </a:accent1>
      <a:accent2>
        <a:srgbClr val="50AE3D"/>
      </a:accent2>
      <a:accent3>
        <a:srgbClr val="D9D9D9"/>
      </a:accent3>
      <a:accent4>
        <a:srgbClr val="FFC24F"/>
      </a:accent4>
      <a:accent5>
        <a:srgbClr val="75E3B5"/>
      </a:accent5>
      <a:accent6>
        <a:srgbClr val="FF8373"/>
      </a:accent6>
      <a:hlink>
        <a:srgbClr val="2E7E33"/>
      </a:hlink>
      <a:folHlink>
        <a:srgbClr val="0070C0"/>
      </a:folHlink>
    </a:clrScheme>
    <a:fontScheme name="Другая 1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Тема Office">
  <a:themeElements>
    <a:clrScheme name="Freedom Bank">
      <a:dk1>
        <a:srgbClr val="262626"/>
      </a:dk1>
      <a:lt1>
        <a:sysClr val="window" lastClr="FFFFFF"/>
      </a:lt1>
      <a:dk2>
        <a:srgbClr val="262626"/>
      </a:dk2>
      <a:lt2>
        <a:srgbClr val="FFFFFF"/>
      </a:lt2>
      <a:accent1>
        <a:srgbClr val="34903B"/>
      </a:accent1>
      <a:accent2>
        <a:srgbClr val="50AE3D"/>
      </a:accent2>
      <a:accent3>
        <a:srgbClr val="D9D9D9"/>
      </a:accent3>
      <a:accent4>
        <a:srgbClr val="FFC24F"/>
      </a:accent4>
      <a:accent5>
        <a:srgbClr val="75E3B5"/>
      </a:accent5>
      <a:accent6>
        <a:srgbClr val="FF8373"/>
      </a:accent6>
      <a:hlink>
        <a:srgbClr val="2E7E33"/>
      </a:hlink>
      <a:folHlink>
        <a:srgbClr val="0070C0"/>
      </a:folHlink>
    </a:clrScheme>
    <a:fontScheme name="Другая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fo_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fo_theme" id="{342A9F24-705B-4C3C-863C-FAB44E70BDEE}" vid="{E21599AF-65EB-4D64-8DC5-9CB2443F8E57}"/>
    </a:ext>
  </a:ext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2239</TotalTime>
  <Words>260</Words>
  <Application>Microsoft Office PowerPoint</Application>
  <PresentationFormat>Широкоэкранный</PresentationFormat>
  <Paragraphs>156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2_Тема Office</vt:lpstr>
      <vt:lpstr>4_Тема Office</vt:lpstr>
      <vt:lpstr>mfo_theme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Жетыбаев Алибек Ербулатович</dc:creator>
  <cp:lastModifiedBy>Dinara</cp:lastModifiedBy>
  <cp:revision>17</cp:revision>
  <cp:lastPrinted>2025-08-29T04:45:22Z</cp:lastPrinted>
  <dcterms:created xsi:type="dcterms:W3CDTF">2025-04-09T12:41:02Z</dcterms:created>
  <dcterms:modified xsi:type="dcterms:W3CDTF">2025-11-12T13:31:19Z</dcterms:modified>
</cp:coreProperties>
</file>